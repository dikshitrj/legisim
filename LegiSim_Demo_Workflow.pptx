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B2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B2D"/>
                </a:solidFill>
                <a:latin typeface="Arial"/>
              </a:rPr>
              <a:t>Income drop by cohort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Income drop (%)</c:v>
                </c:pt>
              </c:strCache>
            </c:strRef>
          </c:tx>
          <c:spPr>
            <a:solidFill>
              <a:srgbClr val="F26B2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6B2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7F8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Rural Farmers</c:v>
                  </c:pt>
                  <c:pt idx="1">
                    <c:v>Urban Middle Class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12.4</c:v>
                </c:pt>
                <c:pt idx="1">
                  <c:v>3.1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B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The whole demo runs on one hardcoded scenario, so every input on the setup screen is chosen to match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story: one policy lever, a cascade of consequences, and cohorts that feel it very differently.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1 to 2 are what you do, step 3 is the engine, steps 4 to 7 are the insights, step 8 is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recording on the Notebooks page, then click ADD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 we define target demographic cohorts and feed the policy parameters into the simulation engine. The policy note must match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engine is ingesting census data, overlaying our cohorts and running a multi-layered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briefly so viewers can take in the four headline metrics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we selected specific cohorts, the engine isolates their impacts: Rural Farmers see a 12.4% income drop, Urban Middle Class only 3.1%.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systems-thinking view: direct cost spikes cascade into food and income effects, then into inflation and backlash.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 the four data files in src/data before recording a different policy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LegiSim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workflow: from policy input to ripple effects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F3350"/>
          </a:solidFill>
          <a:ln w="12700">
            <a:solidFill>
              <a:srgbClr val="1F335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20240" y="3611880"/>
            <a:ext cx="228600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2148840" y="33832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F3350"/>
          </a:solidFill>
          <a:ln w="12700">
            <a:solidFill>
              <a:srgbClr val="1F335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3611880"/>
            <a:ext cx="228600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749040" y="33832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F3350"/>
          </a:solidFill>
          <a:ln w="12700">
            <a:solidFill>
              <a:srgbClr val="1F335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3611880"/>
            <a:ext cx="228600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349240" y="33832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F3350"/>
          </a:solidFill>
          <a:ln w="12700">
            <a:solidFill>
              <a:srgbClr val="1F335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20840" y="3611880"/>
            <a:ext cx="228600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6949440" y="33832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26B21"/>
          </a:solidFill>
          <a:ln w="12700">
            <a:solidFill>
              <a:srgbClr val="F26B2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Diesel Subsidy Removal (Fuel Price Deregulation)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Diesel subsidy removal, in three orders of impact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how LegiSim simulates 1st, 2nd and 3rd order socio-economic effects of removing diesel subsidies, phased over 6 months, across different demographics.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0F1B2D"/>
          </a:solidFill>
          <a:ln w="12700">
            <a:solidFill>
              <a:srgbClr val="0F1B2D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diesel subsidy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13432" y="2834640"/>
            <a:ext cx="265176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2606040" y="219456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F26B21"/>
          </a:solidFill>
          <a:ln w="12700">
            <a:solidFill>
              <a:srgbClr val="F26B2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order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and farm input costs rise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62272" y="2834640"/>
            <a:ext cx="265176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4754880" y="219456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1B7F8C"/>
          </a:solidFill>
          <a:ln w="12700">
            <a:solidFill>
              <a:srgbClr val="1B7F8C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order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prices up, rural income down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11112" y="2834640"/>
            <a:ext cx="265176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6903720" y="219456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5B6B7F"/>
          </a:solidFill>
          <a:ln w="12700">
            <a:solidFill>
              <a:srgbClr val="5B6B7F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order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and political backlash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88620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Farmers: severe hit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388620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Middle Class: absorbs better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388620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drivers: via Other Workers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AT A GLANCE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steps, five screens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26B21"/>
          </a:solidFill>
          <a:ln w="12700">
            <a:solidFill>
              <a:srgbClr val="F26B2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/notebooks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21992" y="1965960"/>
            <a:ext cx="246888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2496312" y="137160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26B21"/>
          </a:solidFill>
          <a:ln w="12700">
            <a:solidFill>
              <a:srgbClr val="F26B2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wizard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/notebooks/[id]/new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61104" y="1965960"/>
            <a:ext cx="246888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4535424" y="137160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1B7F8C"/>
          </a:solidFill>
          <a:ln w="12700">
            <a:solidFill>
              <a:srgbClr val="1B7F8C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loading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/runs/demo-run-1/loading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0216" y="1965960"/>
            <a:ext cx="246888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6574536" y="137160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0F1B2D"/>
          </a:solidFill>
          <a:ln w="12700">
            <a:solidFill>
              <a:srgbClr val="0F1B2D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/dashboard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74536" y="310896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0F1B2D"/>
          </a:solidFill>
          <a:ln w="12700">
            <a:solidFill>
              <a:srgbClr val="0F1B2D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/summary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flipH="1">
            <a:off x="8339328" y="3703320"/>
            <a:ext cx="246888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535424" y="310896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0F1B2D"/>
          </a:solidFill>
          <a:ln w="12700">
            <a:solidFill>
              <a:srgbClr val="0F1B2D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/groups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flipH="1">
            <a:off x="6300216" y="3703320"/>
            <a:ext cx="246888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496312" y="310896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0F1B2D"/>
          </a:solidFill>
          <a:ln w="12700">
            <a:solidFill>
              <a:srgbClr val="0F1B2D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/ripple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H="1">
            <a:off x="4261104" y="3703320"/>
            <a:ext cx="246888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57200" y="310896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5B6B7F"/>
          </a:solidFill>
          <a:ln w="12700">
            <a:solidFill>
              <a:srgbClr val="5B6B7F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and Map tabs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43216" y="2587752"/>
            <a:ext cx="0" cy="50292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57200" y="4526280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F26B21"/>
          </a:solidFill>
          <a:ln w="12700">
            <a:solidFill>
              <a:srgbClr val="F26B2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4526280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1B7F8C"/>
          </a:solidFill>
          <a:ln w="12700">
            <a:solidFill>
              <a:srgbClr val="1B7F8C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4526280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0F1B2D"/>
          </a:solidFill>
          <a:ln w="12700">
            <a:solidFill>
              <a:srgbClr val="0F1B2D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4526280"/>
            <a:ext cx="1371600" cy="274320"/>
          </a:xfrm>
          <a:prstGeom prst="roundRect">
            <a:avLst>
              <a:gd name="adj" fmla="val 26667"/>
            </a:avLst>
          </a:prstGeom>
          <a:solidFill>
            <a:srgbClr val="5B6B7F"/>
          </a:solidFill>
          <a:ln w="12700">
            <a:solidFill>
              <a:srgbClr val="5B6B7F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+ STEP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ready, then open the Notebooks dashboard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dev server: npm run dev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03120" y="1920240"/>
            <a:ext cx="0" cy="32004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457200" y="224028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localhost:3000/notebooks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2880360"/>
            <a:ext cx="0" cy="32004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457200" y="320040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screen recorder to the browser window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43891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1389888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F26B21"/>
          </a:solidFill>
          <a:ln w="12700">
            <a:solidFill>
              <a:srgbClr val="F26B2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NOTEBOOK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01168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notebook A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01168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notebook B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201168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notebook C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200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orange button to start a new analysis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0F1B2D"/>
          </a:solidFill>
          <a:ln w="12700">
            <a:solidFill>
              <a:srgbClr val="0F1B2D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"Today we evaluate a sensitive policy: complete removal of diesel subsidies."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(CRITICAL)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wizard: pick inputs that match the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07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&amp; Age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18488"/>
            <a:ext cx="2240280" cy="274320"/>
          </a:xfrm>
          <a:prstGeom prst="roundRect">
            <a:avLst>
              <a:gd name="adj" fmla="val 26667"/>
            </a:avLst>
          </a:prstGeom>
          <a:solidFill>
            <a:srgbClr val="F26B21"/>
          </a:solidFill>
          <a:ln w="12700">
            <a:solidFill>
              <a:srgbClr val="F26B2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Productive (25-59)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56816"/>
            <a:ext cx="2240280" cy="274320"/>
          </a:xfrm>
          <a:prstGeom prst="roundRect">
            <a:avLst>
              <a:gd name="adj" fmla="val 26667"/>
            </a:avLst>
          </a:prstGeom>
          <a:solidFill>
            <a:srgbClr val="F26B21"/>
          </a:solidFill>
          <a:ln w="12700">
            <a:solidFill>
              <a:srgbClr val="F26B2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(60+)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123444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307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Groups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618488"/>
            <a:ext cx="2240280" cy="274320"/>
          </a:xfrm>
          <a:prstGeom prst="roundRect">
            <a:avLst>
              <a:gd name="adj" fmla="val 26667"/>
            </a:avLst>
          </a:prstGeom>
          <a:solidFill>
            <a:srgbClr val="F26B21"/>
          </a:solidFill>
          <a:ln w="12700">
            <a:solidFill>
              <a:srgbClr val="F26B2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Quintiles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1956816"/>
            <a:ext cx="2240280" cy="274320"/>
          </a:xfrm>
          <a:prstGeom prst="roundRect">
            <a:avLst>
              <a:gd name="adj" fmla="val 26667"/>
            </a:avLst>
          </a:prstGeom>
          <a:solidFill>
            <a:srgbClr val="F26B21"/>
          </a:solidFill>
          <a:ln w="12700">
            <a:solidFill>
              <a:srgbClr val="F26B2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Amenities Access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907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218688"/>
            <a:ext cx="2240280" cy="274320"/>
          </a:xfrm>
          <a:prstGeom prst="roundRect">
            <a:avLst>
              <a:gd name="adj" fmla="val 26667"/>
            </a:avLst>
          </a:prstGeom>
          <a:solidFill>
            <a:srgbClr val="F26B21"/>
          </a:solidFill>
          <a:ln w="12700">
            <a:solidFill>
              <a:srgbClr val="F26B2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Cultivators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557016"/>
            <a:ext cx="2240280" cy="274320"/>
          </a:xfrm>
          <a:prstGeom prst="roundRect">
            <a:avLst>
              <a:gd name="adj" fmla="val 26667"/>
            </a:avLst>
          </a:prstGeom>
          <a:solidFill>
            <a:srgbClr val="F26B21"/>
          </a:solidFill>
          <a:ln w="12700">
            <a:solidFill>
              <a:srgbClr val="F26B2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Labourers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895344"/>
            <a:ext cx="2240280" cy="274320"/>
          </a:xfrm>
          <a:prstGeom prst="roundRect">
            <a:avLst>
              <a:gd name="adj" fmla="val 26667"/>
            </a:avLst>
          </a:prstGeom>
          <a:solidFill>
            <a:srgbClr val="F26B21"/>
          </a:solidFill>
          <a:ln w="12700">
            <a:solidFill>
              <a:srgbClr val="F26B2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Workers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54680" y="283464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91840" y="2907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vs Rural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3218688"/>
            <a:ext cx="2240280" cy="274320"/>
          </a:xfrm>
          <a:prstGeom prst="roundRect">
            <a:avLst>
              <a:gd name="adj" fmla="val 26667"/>
            </a:avLst>
          </a:prstGeom>
          <a:solidFill>
            <a:srgbClr val="F26B21"/>
          </a:solidFill>
          <a:ln w="12700">
            <a:solidFill>
              <a:srgbClr val="F26B2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Revenue Villages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3557016"/>
            <a:ext cx="2240280" cy="274320"/>
          </a:xfrm>
          <a:prstGeom prst="roundRect">
            <a:avLst>
              <a:gd name="adj" fmla="val 26667"/>
            </a:avLst>
          </a:prstGeom>
          <a:solidFill>
            <a:srgbClr val="F26B21"/>
          </a:solidFill>
          <a:ln w="12700">
            <a:solidFill>
              <a:srgbClr val="F26B2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Towns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123444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0F1B2D"/>
          </a:solidFill>
          <a:ln w="12700">
            <a:solidFill>
              <a:srgbClr val="0F1B2D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NOTES (type exactly)</a:t>
            </a:r>
            <a:endParaRPr lang="en-US" sz="12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"Evaluate the socio-economic and ripple effects of Fuel Price Deregulation, specifically the complete removal of diesel subsidies with a phased implementation over 6 months."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60920" y="3611880"/>
            <a:ext cx="0" cy="36576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6035040" y="402336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26B21"/>
          </a:solidFill>
          <a:ln w="12700">
            <a:solidFill>
              <a:srgbClr val="F26B2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/ Save Cohort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"AI processing" loading screen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B7F8C"/>
          </a:solidFill>
          <a:ln w="12700">
            <a:solidFill>
              <a:srgbClr val="1B7F8C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13432" y="2240280"/>
            <a:ext cx="265176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2606040" y="155448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B7F8C"/>
          </a:solidFill>
          <a:ln w="12700">
            <a:solidFill>
              <a:srgbClr val="1B7F8C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cohorts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62272" y="2240280"/>
            <a:ext cx="265176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4754880" y="155448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B7F8C"/>
          </a:solidFill>
          <a:ln w="12700">
            <a:solidFill>
              <a:srgbClr val="1B7F8C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Multi-layered impact model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11112" y="2240280"/>
            <a:ext cx="265176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6903720" y="155448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26B21"/>
          </a:solidFill>
          <a:ln w="12700">
            <a:solidFill>
              <a:srgbClr val="F26B2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Auto-opens dashboard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8229600" cy="164592"/>
          </a:xfrm>
          <a:prstGeom prst="roundRect">
            <a:avLst>
              <a:gd name="adj" fmla="val 27778"/>
            </a:avLst>
          </a:prstGeom>
          <a:solidFill>
            <a:srgbClr val="D5DBE3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83280"/>
            <a:ext cx="5486400" cy="164592"/>
          </a:xfrm>
          <a:prstGeom prst="roundRect">
            <a:avLst>
              <a:gd name="adj" fmla="val 27778"/>
            </a:avLst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/runs/demo-run-1/loading. No clicks needed, just let the animation play out.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dashboard: the macro picture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1B7F8C"/>
          </a:solidFill>
          <a:ln w="12700">
            <a:solidFill>
              <a:srgbClr val="1B7F8C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₹1.3L Cr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savings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606040" y="146304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F26B21"/>
          </a:solidFill>
          <a:ln w="12700">
            <a:solidFill>
              <a:srgbClr val="F26B2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-4.2%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household income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46304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F26B21"/>
          </a:solidFill>
          <a:ln w="12700">
            <a:solidFill>
              <a:srgbClr val="F26B2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+6.3%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living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146304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F26B21"/>
          </a:solidFill>
          <a:ln w="12700">
            <a:solidFill>
              <a:srgbClr val="F26B2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2M+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affected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3246120"/>
            <a:ext cx="0" cy="36576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914400" y="365760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large savings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365760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falling incomes, rising prices, lost jobs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 + 6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and demographic group breakdown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TAB</a:t>
            </a:r>
            <a:endParaRPr lang="en-US" sz="12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up the 6-month phased rollout from the prompt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TAB</a:t>
            </a:r>
            <a:endParaRPr lang="en-US" sz="12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 rural households carry a disproportionate transport-cost burden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4747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TAB</a:t>
            </a:r>
            <a:endParaRPr lang="en-US" sz="12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shift to manual labor; urban middle class shifts to public transport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754880" y="1280160"/>
          <a:ext cx="39319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Ripple effects engine: four layers of cascade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606040" y="1188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188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1188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554480"/>
            <a:ext cx="1783080" cy="2743200"/>
          </a:xfrm>
          <a:prstGeom prst="roundRect">
            <a:avLst>
              <a:gd name="adj" fmla="val 4103"/>
            </a:avLst>
          </a:prstGeom>
          <a:solidFill>
            <a:srgbClr val="0F1B2D"/>
          </a:solidFill>
          <a:ln w="12700">
            <a:solidFill>
              <a:srgbClr val="0F1B2D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subsidy removed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155448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F26B21"/>
          </a:solidFill>
          <a:ln w="12700">
            <a:solidFill>
              <a:srgbClr val="F26B2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costs spike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58568" y="2194560"/>
            <a:ext cx="329184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606040" y="301752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F26B21"/>
          </a:solidFill>
          <a:ln w="12700">
            <a:solidFill>
              <a:srgbClr val="F26B2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 input costs spike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58568" y="3657600"/>
            <a:ext cx="329184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754880" y="155448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1B7F8C"/>
          </a:solidFill>
          <a:ln w="12700">
            <a:solidFill>
              <a:srgbClr val="1B7F8C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prices rise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07408" y="2194560"/>
            <a:ext cx="329184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4754880" y="301752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1B7F8C"/>
          </a:solidFill>
          <a:ln w="12700">
            <a:solidFill>
              <a:srgbClr val="1B7F8C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income declines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07408" y="3657600"/>
            <a:ext cx="329184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6903720" y="155448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5B6B7F"/>
          </a:solidFill>
          <a:ln w="12700">
            <a:solidFill>
              <a:srgbClr val="5B6B7F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inflation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56248" y="2194560"/>
            <a:ext cx="329184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903720" y="301752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5B6B7F"/>
          </a:solidFill>
          <a:ln w="12700">
            <a:solidFill>
              <a:srgbClr val="5B6B7F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backlash risk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56248" y="3657600"/>
            <a:ext cx="329184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unintended consequences before the policy is even drafted.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Changing the demo topic (e.g. Farmer Loan Waiver)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mockResults.ts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metrics, charts, summary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60520" y="1577340"/>
            <a:ext cx="822960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5029200" y="128016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0F1B2D"/>
          </a:solidFill>
          <a:ln w="12700">
            <a:solidFill>
              <a:srgbClr val="0F1B2D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Summary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5740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mockRipple.ts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and edges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0520" y="2354580"/>
            <a:ext cx="822960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029200" y="205740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0F1B2D"/>
          </a:solidFill>
          <a:ln w="12700">
            <a:solidFill>
              <a:srgbClr val="0F1B2D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83464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mockGroups.ts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Cohorts, income changes, behaviors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60520" y="3131820"/>
            <a:ext cx="822960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5029200" y="283464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0F1B2D"/>
          </a:solidFill>
          <a:ln w="12700">
            <a:solidFill>
              <a:srgbClr val="0F1B2D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61188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mockNotebooks.ts (optional)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list on home screen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3909060"/>
            <a:ext cx="822960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029200" y="361188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5B6B7F"/>
          </a:solidFill>
          <a:ln w="12700">
            <a:solidFill>
              <a:srgbClr val="5B6B7F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1280160"/>
            <a:ext cx="1280160" cy="2788920"/>
          </a:xfrm>
          <a:prstGeom prst="roundRect">
            <a:avLst>
              <a:gd name="adj" fmla="val 5714"/>
            </a:avLst>
          </a:prstGeom>
          <a:solidFill>
            <a:srgbClr val="F26B21"/>
          </a:solidFill>
          <a:ln w="12700">
            <a:solidFill>
              <a:srgbClr val="F26B21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update setup inputs and policy note to match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files live in src/data/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2026-09-24T09:09:32Z</dcterms:created>
  <dcterms:modified xsi:type="dcterms:W3CDTF">2026-09-24T09:09:32Z</dcterms:modified>
</cp:coreProperties>
</file>